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88" r:id="rId4"/>
    <p:sldId id="263" r:id="rId5"/>
    <p:sldId id="266" r:id="rId6"/>
    <p:sldId id="284" r:id="rId7"/>
    <p:sldId id="258" r:id="rId8"/>
    <p:sldId id="259" r:id="rId9"/>
    <p:sldId id="268" r:id="rId10"/>
    <p:sldId id="264" r:id="rId11"/>
    <p:sldId id="269" r:id="rId12"/>
    <p:sldId id="267" r:id="rId13"/>
    <p:sldId id="28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3B2D-5E89-DA04-F0EC-6A4FC9F72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AD730-ACFA-D081-76FA-6CAF00EE0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5BFBB-FCAF-C3CF-7D31-6457ADE8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70C8D-6EEA-1C8A-D1C5-C9395B18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96E7F-A9E8-87DD-B263-DF6AF36F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02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8858-DBF9-FDAE-034C-CE8392D6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A76C-D8ED-A811-6DDF-96AE94ED7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DC801-4A41-88C0-3707-A03C3349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80A3-EC20-7BA8-17FA-0F4326D9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7929B-8314-3E90-6B4F-3204ED39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41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060B-3979-1617-C601-D2187AB2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F1021-31B4-174A-ADF4-2F6CC2548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5DBC8-2AB1-0B7F-FBD3-E194BE983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7E47-254D-DCCE-32C0-C0E5B3DD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7F888-81FE-7F88-A093-3974423C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3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8711-B5A7-0551-BFC5-A771C143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CDFC8-14A5-D04E-CC29-973FAC35C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1A1EC-28C7-A757-5C2C-217FEA556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59917-14EF-8CEA-AB44-8AFFD65E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5FA18-355D-FE8F-FEB5-ED2E1B0F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EE87B-B154-1C9E-BEE3-4D66AB22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72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D765-7C24-C826-D6AE-480F3302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7067-4A97-C6AE-3BBB-EED7C7E5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D9672-10CC-98DF-A468-162AD34BC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94AC6-6513-99E1-50B2-D7FA32117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1EFFF-63FD-1722-A840-323E23735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38BA4-61BE-811A-29E8-F5D9F767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52F2D-3C11-8A44-4039-FA36A27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B1CDC-B092-3669-100C-7659BF4B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13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7536-4452-26D5-5AD8-0C8044F3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9F63E-6177-127E-557A-47D12BF0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1809F-C609-6A86-496B-D4BBE132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D7F6E-7A17-39E3-3472-65C0B8D3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884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4DC10-07DA-15C5-C63D-EC04A447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14C7-087F-ABD1-54F4-8830FF8C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AC9FD-09E2-11A0-E0BE-B9E2B886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51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BBD2-C24D-D794-ACE7-785572EE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C47D-99EB-7EE3-B330-80E7A4FA5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4EA2A-F43B-4733-4736-0DBB77DF3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92B87-28E8-C3A7-B31E-67572BEA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E5FB1-C0DA-0369-E0F6-E4252CBC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B66D2-78D9-9808-A7A7-20CBEF75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74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0919-7AAD-5846-0F20-36B81433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2C7D8-0F8B-BF16-95C2-C628F6688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6C4CB-6539-4C8F-0D52-02DCC1730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8A77E-B792-59DB-195D-93475B73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C9480-AE11-88B1-F8E8-D9D8F2C2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C6B70-A847-77BC-2FD5-47C5B88A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6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4D20-BB9C-2CA9-2A61-2E1A65BF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42794-947B-4E25-EDCC-28933D4FF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6C36E-F6FB-C313-0E2F-A9D76B1A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D8B34-71E9-B052-FA9B-7F0D9CFE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B8FE1-D224-FB99-0421-8E3E491B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3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D777C-5887-3A31-823B-165F378D0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CCD0C-2819-0D89-D1FC-F21F362AE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8963D-5439-7B0E-13D7-63A15AC02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1161B-93E4-73E0-787F-156B9553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1A456-92EF-796C-AC87-19FF1187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0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FD25D-83D7-91D3-0C49-7BC292AF4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36180-BE02-EC5A-E0CC-2A40741C6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8D21F-D2C4-D7C1-B43D-1D2566FDC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3383-3874-4807-AF1F-95EE1668570F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4DBC4-4ACB-5433-70BC-6DAFF907D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0F3B0-8C79-AD87-5BC3-8C3C51182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16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089601488" TargetMode="External"/><Relationship Id="rId2" Type="http://schemas.openxmlformats.org/officeDocument/2006/relationships/hyperlink" Target="https://scholar.google.com/citations?user=LeTawO8AAAAJ&amp;hl=en&amp;oi=sr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author/37089360468" TargetMode="External"/><Relationship Id="rId4" Type="http://schemas.openxmlformats.org/officeDocument/2006/relationships/hyperlink" Target="https://ieeexplore.ieee.org/author/4694736953386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88772" y="3971859"/>
            <a:ext cx="10310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BY:- SWAROOP PATIL </a:t>
            </a:r>
            <a:endParaRPr lang="en-IN" sz="24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D7E8-EE27-4204-8EF9-D5E90A448860}" type="slidenum">
              <a:rPr lang="en-IN" smtClean="0"/>
              <a:t>1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CFF0EC-CF59-B5C4-F026-6B50B3DABE57}"/>
              </a:ext>
            </a:extLst>
          </p:cNvPr>
          <p:cNvSpPr txBox="1"/>
          <p:nvPr/>
        </p:nvSpPr>
        <p:spPr>
          <a:xfrm>
            <a:off x="289470" y="1915989"/>
            <a:ext cx="11613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AUTOMATED AMPLIFIER CIRCUIT</a:t>
            </a:r>
          </a:p>
          <a:p>
            <a:pPr algn="ctr"/>
            <a:r>
              <a:rPr lang="en-US" sz="3200" b="1" dirty="0"/>
              <a:t>DESIGN GENERATION</a:t>
            </a:r>
            <a:endParaRPr lang="en-I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716" y="7975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  <a:cs typeface="Times New Roman" panose="02020603050405020304" pitchFamily="18" charset="0"/>
              </a:rPr>
              <a:t>CONTENTS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401905"/>
              </p:ext>
            </p:extLst>
          </p:nvPr>
        </p:nvGraphicFramePr>
        <p:xfrm>
          <a:off x="855307" y="1732648"/>
          <a:ext cx="10515600" cy="4684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554"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Times New Roman" panose="02020603050405020304" pitchFamily="18" charset="0"/>
                        </a:rPr>
                        <a:t>Sl.no </a:t>
                      </a:r>
                      <a:endParaRPr lang="en-IN" sz="24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Times New Roman" panose="02020603050405020304" pitchFamily="18" charset="0"/>
                        </a:rPr>
                        <a:t>TITLE </a:t>
                      </a:r>
                      <a:endParaRPr lang="en-IN" sz="24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PROBLEM STATEMENT &amp; INTRODUCTION  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MOTIVATION &amp; BACKGROUND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LITERATURE SURVEY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BLOCK DIAGRAM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007930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WORK FLOW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61262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RESULTS &amp; CONCLUSION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357772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REFERENCES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6E00F513-9267-AF7D-5396-EBA5967F8F86}"/>
              </a:ext>
            </a:extLst>
          </p:cNvPr>
          <p:cNvSpPr>
            <a:spLocks noGrp="1"/>
          </p:cNvSpPr>
          <p:nvPr/>
        </p:nvSpPr>
        <p:spPr>
          <a:xfrm>
            <a:off x="8627707" y="637173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C5D7E8-EE27-4204-8EF9-D5E90A448860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7D837-BF2E-DAE6-B37C-52B4C5099580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5A8C-CFB8-E69D-5DD8-A73090C22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046" y="5403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libri BODY"/>
              </a:rPr>
              <a:t>PROBLEM STATEMENT</a:t>
            </a:r>
            <a:endParaRPr lang="en-IN" sz="3200" b="1" dirty="0">
              <a:latin typeface="Calibri BOD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8B40D-14A4-BB16-12E2-343FAC3BE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101405"/>
            <a:ext cx="5541605" cy="321624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Automated transistor level amplifier circuit design generation using VAE model.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6F998C0D-DB03-7171-49C8-D1F79287E41A}"/>
              </a:ext>
            </a:extLst>
          </p:cNvPr>
          <p:cNvSpPr>
            <a:spLocks noGrp="1"/>
          </p:cNvSpPr>
          <p:nvPr/>
        </p:nvSpPr>
        <p:spPr>
          <a:xfrm>
            <a:off x="1971869" y="6425832"/>
            <a:ext cx="824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A822C-9C6F-CDBC-2130-A3C862B6676E}"/>
              </a:ext>
            </a:extLst>
          </p:cNvPr>
          <p:cNvSpPr>
            <a:spLocks noGrp="1"/>
          </p:cNvSpPr>
          <p:nvPr/>
        </p:nvSpPr>
        <p:spPr>
          <a:xfrm>
            <a:off x="8627707" y="637173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C5D7E8-EE27-4204-8EF9-D5E90A448860}" type="slidenum">
              <a:rPr lang="en-IN" smtClean="0"/>
              <a:pPr/>
              <a:t>3</a:t>
            </a:fld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497A12-577C-3E79-EAF7-BEE68978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02" y="2331030"/>
            <a:ext cx="4833257" cy="339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35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39395-16E6-795D-17EC-7453B14D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466310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IN" sz="4800" dirty="0"/>
              <a:t>                           </a:t>
            </a:r>
            <a:r>
              <a:rPr lang="en-IN" sz="3600" b="1" dirty="0">
                <a:latin typeface="+mn-lt"/>
              </a:rPr>
              <a:t>INTRODUCTION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04800" y="1305970"/>
            <a:ext cx="7040563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Manual amplifier design is time-consuming and error-prone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Resistor selection (RC, RE, RG) is a key challenge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Automation can speed up and improve design accuracy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VAEs enable data-driven circuit generation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Project focuses on generating valid amplifier circuits using VAE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D213E5D-49BD-92C5-E7F5-3DE4E5D5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4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41953-BBBF-5405-6331-E6B1120A36A6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517A9BFE-980A-1EA0-1B54-156C24A479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F63BA842-9ECE-C492-BA67-1108423DB0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DCDD6E-D7F3-BDDE-60C0-DBE3A2AAA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554" y="1574026"/>
            <a:ext cx="4271865" cy="401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2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FBE0-E834-8D45-98A8-CCA46595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677"/>
            <a:ext cx="10515600" cy="1325563"/>
          </a:xfrm>
        </p:spPr>
        <p:txBody>
          <a:bodyPr/>
          <a:lstStyle/>
          <a:p>
            <a:r>
              <a:rPr lang="en-IN" dirty="0"/>
              <a:t>            </a:t>
            </a:r>
            <a:r>
              <a:rPr lang="en-IN" sz="3200" b="1" dirty="0">
                <a:latin typeface="+mn-lt"/>
              </a:rPr>
              <a:t>MOTIVATION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BDBBC-A6B4-3969-EC44-87322E233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167" y="1800679"/>
            <a:ext cx="10059955" cy="3771900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Manual resistor selection is time-consuming and prone to design errors.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There is a lack of scalable, intelligent tools for analog circuit automation.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Accurate analog design is critical but often bottlenecked by trial-and-error.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 data-driven solution like VAE can reduce human effort and speed up circuit development.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2DAEADF-AF45-7840-F3AC-27B3DB29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CEC32-45E2-3AA7-B437-DC55C46C40CA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63250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C6CA-E97A-D393-AADC-F9550F75C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924" y="605832"/>
            <a:ext cx="10753376" cy="5905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BACKGROND:</a:t>
            </a:r>
          </a:p>
          <a:p>
            <a:pPr marL="0" indent="0">
              <a:buNone/>
            </a:pPr>
            <a:endParaRPr lang="en-US" b="1" dirty="0"/>
          </a:p>
          <a:p>
            <a:pPr algn="just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Design Complexity: Amplifier circuits require precise resistor tuning (RC, RE, RG), making manual design time-consuming.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Traditional Methods: Rely on expert knowledge and trial-and-error, limiting scalability.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Modern Approaches: Use data-driven models to learn patterns from existing circuits.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Emerging Technologies: VAEs enable automated design by capturing and generating circuit structures.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Need for Automation: Speeds up development and reduces human error in analog circuit design.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5197BA-F45B-1405-86B8-550851F31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23" y="3763435"/>
            <a:ext cx="10753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12147FD-983A-A2EA-CDCD-7144FE9E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DF578-5BB0-DA74-6D7D-6F8A448B9677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00967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814D-18BC-D5E9-A45A-75A05BCF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338"/>
            <a:ext cx="10515600" cy="3747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+mn-lt"/>
              </a:rPr>
              <a:t>LITERATURE REVIEW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3E7A3A-5996-0A3A-54E6-EB3812B7A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710" y="6675437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7</a:t>
            </a:fld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B3BD26-DBE6-11EE-66FC-D48F194C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08542"/>
              </p:ext>
            </p:extLst>
          </p:nvPr>
        </p:nvGraphicFramePr>
        <p:xfrm>
          <a:off x="578498" y="943600"/>
          <a:ext cx="10925243" cy="5363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9605">
                  <a:extLst>
                    <a:ext uri="{9D8B030D-6E8A-4147-A177-3AD203B41FA5}">
                      <a16:colId xmlns:a16="http://schemas.microsoft.com/office/drawing/2014/main" val="1998993319"/>
                    </a:ext>
                  </a:extLst>
                </a:gridCol>
                <a:gridCol w="1170832">
                  <a:extLst>
                    <a:ext uri="{9D8B030D-6E8A-4147-A177-3AD203B41FA5}">
                      <a16:colId xmlns:a16="http://schemas.microsoft.com/office/drawing/2014/main" val="1093228264"/>
                    </a:ext>
                  </a:extLst>
                </a:gridCol>
                <a:gridCol w="3352403">
                  <a:extLst>
                    <a:ext uri="{9D8B030D-6E8A-4147-A177-3AD203B41FA5}">
                      <a16:colId xmlns:a16="http://schemas.microsoft.com/office/drawing/2014/main" val="270127558"/>
                    </a:ext>
                  </a:extLst>
                </a:gridCol>
                <a:gridCol w="3352403">
                  <a:extLst>
                    <a:ext uri="{9D8B030D-6E8A-4147-A177-3AD203B41FA5}">
                      <a16:colId xmlns:a16="http://schemas.microsoft.com/office/drawing/2014/main" val="532660850"/>
                    </a:ext>
                  </a:extLst>
                </a:gridCol>
              </a:tblGrid>
              <a:tr h="443448">
                <a:tc>
                  <a:txBody>
                    <a:bodyPr/>
                    <a:lstStyle/>
                    <a:p>
                      <a:pPr algn="just"/>
                      <a:r>
                        <a:rPr lang="en-IN" b="1" dirty="0"/>
                        <a:t>Paper Title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b="1" dirty="0"/>
                        <a:t>Year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b="1"/>
                        <a:t>Methodology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b="1"/>
                        <a:t>Limitations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175460"/>
                  </a:ext>
                </a:extLst>
              </a:tr>
              <a:tr h="1749492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Automated Framework for Level Shifter Circuit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Autonomous topology generation and transistor sizing optimizing power and delay for level shifters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Focused only on level shifter circuits; may not generalize to other analog circuit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498616"/>
                  </a:ext>
                </a:extLst>
              </a:tr>
              <a:tr h="1421462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Automation Framework for Digital Circuit Design and Verification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Combines HLS with automated verification tools for digital circuit design and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Targets digital circuits only; lacks analog design automation and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840082"/>
                  </a:ext>
                </a:extLst>
              </a:tr>
              <a:tr h="1749492">
                <a:tc>
                  <a:txBody>
                    <a:bodyPr/>
                    <a:lstStyle/>
                    <a:p>
                      <a:pPr algn="just"/>
                      <a:r>
                        <a:rPr lang="en-IN" dirty="0" err="1"/>
                        <a:t>LayoutCopilot</a:t>
                      </a:r>
                      <a:r>
                        <a:rPr lang="en-IN" dirty="0"/>
                        <a:t>: LLM-powered Multi-agent Framework for Analog Layout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Multi-agent system using LLMs for interactive analog layout design with human-in-the-loop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Early-stage research; effectiveness depends on quality of LLM and collaboration mechanisms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15121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87199D2-CABF-16E5-708D-4D0A24FC38B0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52519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117B-1559-C9C9-BBAB-4CA0ADCD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1942" y="1702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O</a:t>
            </a:r>
            <a:r>
              <a:rPr lang="en-IN" sz="3200" b="1" dirty="0">
                <a:latin typeface="+mn-lt"/>
              </a:rPr>
              <a:t>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8381-C6F0-3D3C-DFED-8C904B021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14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Automate resistor selection in amplifier design.</a:t>
            </a: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Use VAE to learn and generate circuit designs.</a:t>
            </a: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Produce valid and functional amplifier circuits.</a:t>
            </a: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Evaluate designs with performance metrics.</a:t>
            </a: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Speed up and simplify analog circuit design.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8B8C704-3A8B-5498-E1D8-F25B7B1F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BE153-3AEA-ABE9-2F2F-FCCB0B8F3122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3BDDF3-ECE3-99D1-6CA5-8AD31036C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007" y="1764070"/>
            <a:ext cx="3670812" cy="405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00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C309-D13A-E7E5-2684-C67706E0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B31D-3CA5-02CC-B559-59A70C69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8195"/>
            <a:ext cx="10515600" cy="1325563"/>
          </a:xfrm>
        </p:spPr>
        <p:txBody>
          <a:bodyPr/>
          <a:lstStyle/>
          <a:p>
            <a:pPr algn="ctr"/>
            <a:r>
              <a:rPr lang="en-IN" sz="3200" b="1" dirty="0">
                <a:latin typeface="+mn-lt"/>
              </a:rPr>
              <a:t>BLOCK DIAGRAM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18839AF-8D68-DECF-E591-B582EFC9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9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09D925-C722-1CDC-5096-D1153EC64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993" y="2414761"/>
            <a:ext cx="9050013" cy="2467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F77830-8C0E-34E7-E1AC-60986E08657E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393473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7F68-BBEC-97E2-8B86-2A3257A8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611" y="33187"/>
            <a:ext cx="5657850" cy="879342"/>
          </a:xfrm>
        </p:spPr>
        <p:txBody>
          <a:bodyPr/>
          <a:lstStyle/>
          <a:p>
            <a:r>
              <a:rPr lang="en-IN" dirty="0"/>
              <a:t>              </a:t>
            </a:r>
            <a:r>
              <a:rPr lang="en-IN" sz="3200" b="1" dirty="0">
                <a:latin typeface="+mn-lt"/>
              </a:rPr>
              <a:t>WORK FLOW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58281" y="1073149"/>
            <a:ext cx="11075437" cy="507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Gather a dataset of amplifier circuits with component values and topologies.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Preprocessing: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Convert circuit data into a suitable format for the VAE model.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Model Training: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Train the Variational Autoencoder to learn latent representations of the amplifier designs.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Decoder Reconstruction: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Decode sampled latent vectors into amplifier circuit configurations.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Evaluation: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Assess generated circuits using performance metrics (MSE, MAE, RMSE, R²) and functional validation.</a:t>
            </a:r>
          </a:p>
          <a:p>
            <a:pPr marL="0" indent="0" algn="just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Select and output optimized amplifier circuit designs for further use or fabrication.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486871F-A620-0CEA-B8C7-2AD0ADFA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348A3-5B37-8B99-2E9B-4955A63446F8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82064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20E1-6232-6289-F8C2-9B9A8949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0EA2-78CB-3091-706D-B14796CAD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1627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OUTPUTS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7FE23-661C-DA00-ECF1-99305AAA523E}"/>
              </a:ext>
            </a:extLst>
          </p:cNvPr>
          <p:cNvSpPr txBox="1"/>
          <p:nvPr/>
        </p:nvSpPr>
        <p:spPr>
          <a:xfrm>
            <a:off x="615270" y="5609183"/>
            <a:ext cx="2147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Fig(1) </a:t>
            </a:r>
          </a:p>
          <a:p>
            <a:pPr algn="ctr"/>
            <a:r>
              <a:rPr lang="en-US" dirty="0"/>
              <a:t>Loss over epochs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12545-6ADD-0E1E-D03D-47880109DD29}"/>
              </a:ext>
            </a:extLst>
          </p:cNvPr>
          <p:cNvSpPr txBox="1"/>
          <p:nvPr/>
        </p:nvSpPr>
        <p:spPr>
          <a:xfrm>
            <a:off x="8795768" y="5544567"/>
            <a:ext cx="2918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Fig(3)</a:t>
            </a:r>
          </a:p>
          <a:p>
            <a:pPr algn="ctr"/>
            <a:r>
              <a:rPr lang="en-US" dirty="0"/>
              <a:t>Performance matric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48C93-95BB-AD26-2C11-0C350B1C175F}"/>
              </a:ext>
            </a:extLst>
          </p:cNvPr>
          <p:cNvSpPr txBox="1"/>
          <p:nvPr/>
        </p:nvSpPr>
        <p:spPr>
          <a:xfrm>
            <a:off x="4515031" y="5677980"/>
            <a:ext cx="3632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Fig(2) </a:t>
            </a:r>
          </a:p>
          <a:p>
            <a:pPr algn="ctr"/>
            <a:r>
              <a:rPr lang="en-US" dirty="0"/>
              <a:t>Generated amplifier circuit</a:t>
            </a:r>
            <a:endParaRPr lang="en-IN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030A693-0B77-D301-89DA-55F85BB97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11</a:t>
            </a:fld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21FAC88-6902-9835-BF22-7C780CC02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4" y="1512861"/>
            <a:ext cx="3901751" cy="40963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8ED45D-8580-6833-DA7E-D35E1D4D4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024" y="1475630"/>
            <a:ext cx="3798508" cy="41707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0BD5534-1F52-3B25-F69B-7E2DBAB19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993" y="1438399"/>
            <a:ext cx="3798509" cy="417078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BA44F99-C1A1-406B-59D4-7BCE7EB6E5B4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80221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D4E7-2029-69F2-8F4C-0256D965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37648"/>
            <a:ext cx="10515600" cy="7219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RESULTS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7840" y="936784"/>
            <a:ext cx="10972800" cy="4984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Accurate Circuit Generation: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VAE generated valid amplifier circuits from learned latent features.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Low Reconstruction Error: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Metrics like MSE, MAE, RMSE, and R² showed high accuracy in circuit reconstruction.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Design Diversity: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Latent space sampling produced varied yet functionally correct amplifier designs.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Effective Learning: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Loss curves showed consistent convergence, indicating successful training.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Clear Output: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Generated circuits retained logical structure and realistic resistor values (RC, RE, RG).</a:t>
            </a:r>
            <a:endParaRPr kumimoji="0" 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0B8F2EF-5032-FD63-089E-BE14BD72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12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0BE95-DE9F-7650-4595-F17A7A5D1746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22747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A9E1-B792-4EB0-864F-334E3AA3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libri BODY"/>
              </a:rPr>
              <a:t>CONCLUSION</a:t>
            </a:r>
            <a:endParaRPr lang="en-IN" sz="3200" b="1" dirty="0">
              <a:latin typeface="Calibri BODY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9D24CE-C1BB-9D65-EF83-A498124040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116562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 content-based book recommendation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Utilized TF-IDF to analyze book features (author and genre).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Measured similarity between books using cosine similarity.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Recommended books based on user input of author and genre.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Displayed the top 3 recommended books along with their similarity scores.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 the similarity scores using a bar plot.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efficient and can be extended with additional features for improved recommendations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762DE-9D4A-484E-F50D-D9EAE4A5AD2F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61454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D94A-E125-08D0-43AD-4B1608D2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0"/>
            <a:ext cx="10515600" cy="107234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2E97-7249-9928-8739-6398AACD5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75" y="1147156"/>
            <a:ext cx="11305309" cy="50394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FE241-9C76-8FDC-35CA-FE9EE29E8C6C}"/>
              </a:ext>
            </a:extLst>
          </p:cNvPr>
          <p:cNvSpPr txBox="1"/>
          <p:nvPr/>
        </p:nvSpPr>
        <p:spPr>
          <a:xfrm>
            <a:off x="558799" y="929418"/>
            <a:ext cx="10795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2"/>
              </a:rPr>
              <a:t>[1] 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Hong, Jiwoo Kim,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Sunghoon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Jeon,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Dongsuk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 (2022). An Automatic Circuit Design Framework for Level Shifter Circuits. IEEE Transactions on Computer-Aided Design of Integrated Circuits and Systems. PP. 1-1. 10.1109/TCAD.2022.3155444.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3"/>
              </a:rPr>
              <a:t>[2] 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H. Bong, K. Cho and Y. Seo, ”Automation Framework for Digital Circuit Design and Verification,” 2022 19th International SoC Design Conference (ISOCC), Gangneung-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Korea, Republic of, 2022, pp. 263-264,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doi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10.1109/ISOCC56007.2022.10031431.</a:t>
            </a:r>
          </a:p>
          <a:p>
            <a:pPr algn="just"/>
            <a:endParaRPr lang="en-US" sz="1600" u="sng" dirty="0">
              <a:solidFill>
                <a:srgbClr val="0563C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just"/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4"/>
              </a:rPr>
              <a:t>[3] 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B. Liu et al., ”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LayoutCopilot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 An LLM-Powered Multi-Agent Collaborative Framework for Interactive Analog Layout Design,” in IEEE Transactions on Computer-Aided Design of Integrated Circuits and Systems,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doi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: 10.1109/TCAD.2025.3529805.</a:t>
            </a:r>
          </a:p>
          <a:p>
            <a:pPr algn="just"/>
            <a:endParaRPr lang="en-US" sz="1600" u="sng" dirty="0">
              <a:solidFill>
                <a:srgbClr val="0563C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SimSun" panose="02010600030101010101" pitchFamily="2" charset="-122"/>
              </a:rPr>
              <a:t>[4] 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Z. Zhao, J. Luo, J. Liu and L. Zhang, ”Signal-Division-Aware Analog Circuit Topology Synthesis Aided by Transfer Learning,” in IEEE Transactions on Computer-Aided Design of Integrated Circuits and Systems, vol. 42, no. 11, pp. 3481-3490, Nov. 2023,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doi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10.1109/TCAD.2023.3245979.</a:t>
            </a:r>
          </a:p>
          <a:p>
            <a:pPr algn="just"/>
            <a:endParaRPr lang="en-IN" sz="16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just"/>
            <a:r>
              <a:rPr lang="en-US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[5</a:t>
            </a:r>
            <a:r>
              <a:rPr lang="en-US" sz="1600" dirty="0">
                <a:latin typeface="Times New Roman" panose="02020603050405020304" pitchFamily="18" charset="0"/>
                <a:ea typeface="SimSun" panose="02010600030101010101" pitchFamily="2" charset="-122"/>
              </a:rPr>
              <a:t>]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Bhandari, J., Bhat, V., He, Y., Garg, S., Rahmani, H. and Karri, R., 2024. Auto-SPICE: Leveraging LLMs for Dataset Creation via Automated SPICE Netlist Extraction from Analog Circuit Diagrams.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arXiv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preprint arXiv:2411.14299.</a:t>
            </a:r>
          </a:p>
          <a:p>
            <a:pPr algn="just"/>
            <a:endParaRPr lang="en-US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5"/>
              </a:rPr>
              <a:t>[6] 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Dong, Zehao, Weidong Cao, Muhan Zhang,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Dacheng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Tao, Yixin Chen, and Xuan Zhang ”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CktGNN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Circuit graph neural network for electronic design automation.”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arXiv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preprintarXiv:2308.16406 (2023).</a:t>
            </a:r>
            <a:endParaRPr lang="en-IN" sz="16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23503D5-242B-B28E-32AC-942C3E764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C5D7E8-EE27-4204-8EF9-D5E90A448860}" type="slidenum">
              <a:rPr lang="en-IN" smtClean="0"/>
              <a:t>14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EB53B-31DC-7E44-D3CF-C67BD2AC3FD7}"/>
              </a:ext>
            </a:extLst>
          </p:cNvPr>
          <p:cNvSpPr txBox="1"/>
          <p:nvPr/>
        </p:nvSpPr>
        <p:spPr>
          <a:xfrm>
            <a:off x="2720651" y="6536809"/>
            <a:ext cx="6097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AUTOMATED AMPLIFIER CIRCUIT DESIGN GENERATION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472388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1041</Words>
  <Application>Microsoft Office PowerPoint</Application>
  <PresentationFormat>Widescreen</PresentationFormat>
  <Paragraphs>163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BODY</vt:lpstr>
      <vt:lpstr>Calibri Light</vt:lpstr>
      <vt:lpstr>Google Sans</vt:lpstr>
      <vt:lpstr>Times New Roman</vt:lpstr>
      <vt:lpstr>Office Theme</vt:lpstr>
      <vt:lpstr>PowerPoint Presentation</vt:lpstr>
      <vt:lpstr>CONTENTS </vt:lpstr>
      <vt:lpstr>PROBLEM STATEMENT</vt:lpstr>
      <vt:lpstr>                           INTRODUCTION</vt:lpstr>
      <vt:lpstr>            MOTIVATION AND BACKGROUND</vt:lpstr>
      <vt:lpstr>PowerPoint Presentation</vt:lpstr>
      <vt:lpstr>LITERATURE REVIEW </vt:lpstr>
      <vt:lpstr>OBJECTIVES</vt:lpstr>
      <vt:lpstr>BLOCK DIAGRAM</vt:lpstr>
      <vt:lpstr>              WORK FLOW</vt:lpstr>
      <vt:lpstr>OUTPUTS</vt:lpstr>
      <vt:lpstr>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Team member (Name, SRN) under guidance of Dr.Prema T. Akkasaligar and Dr. Santosh Pattar</dc:title>
  <dc:creator>Prema T. Akkasaligar</dc:creator>
  <cp:lastModifiedBy>Swaroop Patil</cp:lastModifiedBy>
  <cp:revision>44</cp:revision>
  <dcterms:created xsi:type="dcterms:W3CDTF">2023-11-06T07:27:32Z</dcterms:created>
  <dcterms:modified xsi:type="dcterms:W3CDTF">2025-11-27T06:45:42Z</dcterms:modified>
</cp:coreProperties>
</file>